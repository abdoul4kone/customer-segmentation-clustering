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5"/>
  </p:notesMasterIdLst>
  <p:sldIdLst>
    <p:sldId id="256" r:id="rId2"/>
    <p:sldId id="290" r:id="rId3"/>
    <p:sldId id="291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8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B50FA8-83AA-4DDB-B4FF-0411D88A0A7A}">
  <a:tblStyle styleId="{7DB50FA8-83AA-4DDB-B4FF-0411D88A0A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102"/>
      </p:cViewPr>
      <p:guideLst>
        <p:guide orient="horz" pos="43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367A7C6B-E275-6A1D-DEF5-93905647B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eedacfe967_0_0:notes">
            <a:extLst>
              <a:ext uri="{FF2B5EF4-FFF2-40B4-BE49-F238E27FC236}">
                <a16:creationId xmlns:a16="http://schemas.microsoft.com/office/drawing/2014/main" id="{C330498B-E7F2-B063-58C7-EFE594343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eedacfe967_0_0:notes">
            <a:extLst>
              <a:ext uri="{FF2B5EF4-FFF2-40B4-BE49-F238E27FC236}">
                <a16:creationId xmlns:a16="http://schemas.microsoft.com/office/drawing/2014/main" id="{F3FFED88-C2F3-D2C1-ED1C-F8F646541C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0587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F1CAF85A-3BA3-6806-1086-86200466B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eedacfe967_0_0:notes">
            <a:extLst>
              <a:ext uri="{FF2B5EF4-FFF2-40B4-BE49-F238E27FC236}">
                <a16:creationId xmlns:a16="http://schemas.microsoft.com/office/drawing/2014/main" id="{FED009E1-946D-4008-3E03-20E71BB8F0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eedacfe967_0_0:notes">
            <a:extLst>
              <a:ext uri="{FF2B5EF4-FFF2-40B4-BE49-F238E27FC236}">
                <a16:creationId xmlns:a16="http://schemas.microsoft.com/office/drawing/2014/main" id="{BB10F0A9-B3EC-750D-F389-2C503E214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0597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258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622019F-1E7D-4C4B-5533-098F03285E2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t="7812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5DEA9D1-1392-6BA4-7620-F4CBF1FADAE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/>
          </a:p>
        </p:txBody>
      </p:sp>
      <p:sp>
        <p:nvSpPr>
          <p:cNvPr id="60" name="Google Shape;60;p1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6732504" cy="16843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PROJET DATA MINING</a:t>
            </a:r>
            <a:br>
              <a:rPr lang="en" dirty="0"/>
            </a:br>
            <a:r>
              <a:rPr lang="en" dirty="0">
                <a:solidFill>
                  <a:srgbClr val="537F9A"/>
                </a:solidFill>
              </a:rPr>
              <a:t>Profiling cluster</a:t>
            </a:r>
            <a:endParaRPr dirty="0">
              <a:solidFill>
                <a:srgbClr val="537F9A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DF2B9E8-3EA3-4E17-50D7-B0D6DD00B09C}"/>
              </a:ext>
            </a:extLst>
          </p:cNvPr>
          <p:cNvSpPr txBox="1"/>
          <p:nvPr/>
        </p:nvSpPr>
        <p:spPr>
          <a:xfrm>
            <a:off x="188345" y="3459120"/>
            <a:ext cx="1148316" cy="302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dk1"/>
              </a:buClr>
              <a:buSzPts val="5200"/>
              <a:buFont typeface="Fira Sans Extra Condensed"/>
              <a:buNone/>
              <a:defRPr sz="5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r>
              <a:rPr lang="fr-FR" sz="1400" dirty="0"/>
              <a:t>RÉALISÉ PAR :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6F8A786-9A81-B8E9-052B-5F7389B15AF8}"/>
              </a:ext>
            </a:extLst>
          </p:cNvPr>
          <p:cNvSpPr txBox="1"/>
          <p:nvPr/>
        </p:nvSpPr>
        <p:spPr>
          <a:xfrm>
            <a:off x="6739236" y="3932017"/>
            <a:ext cx="2234569" cy="302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chemeClr val="dk1"/>
              </a:buClr>
              <a:buSzPts val="5200"/>
              <a:buFont typeface="Fira Sans Extra Condensed"/>
              <a:buNone/>
              <a:defRPr sz="5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defRPr>
            </a:lvl1pPr>
            <a:lvl2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r>
              <a:rPr lang="fr-FR" sz="1400" dirty="0">
                <a:sym typeface="Fira Sans Extra Condensed"/>
              </a:rPr>
              <a:t>SUPERVISÉ PAR 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3839AA3-A02D-CC62-325C-107D38721B5A}"/>
              </a:ext>
            </a:extLst>
          </p:cNvPr>
          <p:cNvSpPr txBox="1"/>
          <p:nvPr/>
        </p:nvSpPr>
        <p:spPr>
          <a:xfrm>
            <a:off x="170195" y="3701183"/>
            <a:ext cx="3284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chemeClr val="tx1"/>
                </a:solidFill>
                <a:latin typeface="Fira Sans Extra Condensed"/>
                <a:sym typeface="Fira Sans Extra Condensed"/>
              </a:rPr>
              <a:t>CHEFOUET Chetsong Ghislain Joel</a:t>
            </a:r>
          </a:p>
          <a:p>
            <a:r>
              <a:rPr lang="fr-FR" sz="1800" b="1" dirty="0">
                <a:solidFill>
                  <a:schemeClr val="tx1"/>
                </a:solidFill>
                <a:latin typeface="Fira Sans Extra Condensed"/>
                <a:sym typeface="Fira Sans Extra Condensed"/>
              </a:rPr>
              <a:t>KONE Abdoulaye</a:t>
            </a:r>
          </a:p>
          <a:p>
            <a:r>
              <a:rPr lang="fr-FR" sz="1800" b="1" dirty="0">
                <a:solidFill>
                  <a:schemeClr val="tx1"/>
                </a:solidFill>
                <a:latin typeface="Fira Sans Extra Condensed"/>
                <a:sym typeface="Fira Sans Extra Condensed"/>
              </a:rPr>
              <a:t>N’GUESSAN Armand Loïc</a:t>
            </a:r>
          </a:p>
          <a:p>
            <a:r>
              <a:rPr lang="fr-FR" sz="1800" b="1" dirty="0">
                <a:solidFill>
                  <a:schemeClr val="tx1"/>
                </a:solidFill>
                <a:latin typeface="Fira Sans Extra Condensed"/>
                <a:sym typeface="Fira Sans Extra Condensed"/>
              </a:rPr>
              <a:t>SAWADOGO Wend-yam Albert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3159803-BB0A-A4B8-1029-850A656E076A}"/>
              </a:ext>
            </a:extLst>
          </p:cNvPr>
          <p:cNvSpPr txBox="1"/>
          <p:nvPr/>
        </p:nvSpPr>
        <p:spPr>
          <a:xfrm>
            <a:off x="6739236" y="4116682"/>
            <a:ext cx="2234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rgbClr val="537F9A"/>
                </a:solidFill>
                <a:latin typeface="Fira Sans Extra Condensed"/>
              </a:rPr>
              <a:t>M. LALY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0BE8F675-F3FB-C138-B380-0A3A37354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>
            <a:extLst>
              <a:ext uri="{FF2B5EF4-FFF2-40B4-BE49-F238E27FC236}">
                <a16:creationId xmlns:a16="http://schemas.microsoft.com/office/drawing/2014/main" id="{F115BA8E-28BE-975A-909B-A9C5C2FF3C8E}"/>
              </a:ext>
            </a:extLst>
          </p:cNvPr>
          <p:cNvSpPr/>
          <p:nvPr/>
        </p:nvSpPr>
        <p:spPr>
          <a:xfrm>
            <a:off x="3925200" y="1360250"/>
            <a:ext cx="1290000" cy="1290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0">
            <a:extLst>
              <a:ext uri="{FF2B5EF4-FFF2-40B4-BE49-F238E27FC236}">
                <a16:creationId xmlns:a16="http://schemas.microsoft.com/office/drawing/2014/main" id="{6929EDF2-D6B7-AB20-42BE-88E6553472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2172" y="2583742"/>
            <a:ext cx="68625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Cluster 1 : Couples jeunes, indépendants, à hauts revenus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6BDBCD65-F966-4FC7-339D-365F404ADEF0}"/>
              </a:ext>
            </a:extLst>
          </p:cNvPr>
          <p:cNvGrpSpPr/>
          <p:nvPr/>
        </p:nvGrpSpPr>
        <p:grpSpPr>
          <a:xfrm>
            <a:off x="350579" y="495905"/>
            <a:ext cx="8373205" cy="2020876"/>
            <a:chOff x="350579" y="495905"/>
            <a:chExt cx="8373205" cy="2020876"/>
          </a:xfrm>
        </p:grpSpPr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3ACD0021-4A75-3865-047E-910D2FFABE86}"/>
                </a:ext>
              </a:extLst>
            </p:cNvPr>
            <p:cNvGrpSpPr/>
            <p:nvPr/>
          </p:nvGrpSpPr>
          <p:grpSpPr>
            <a:xfrm>
              <a:off x="350579" y="495905"/>
              <a:ext cx="8373205" cy="2020876"/>
              <a:chOff x="420216" y="2252044"/>
              <a:chExt cx="8373205" cy="2020876"/>
            </a:xfrm>
          </p:grpSpPr>
          <p:sp>
            <p:nvSpPr>
              <p:cNvPr id="178" name="Google Shape;178;p20">
                <a:extLst>
                  <a:ext uri="{FF2B5EF4-FFF2-40B4-BE49-F238E27FC236}">
                    <a16:creationId xmlns:a16="http://schemas.microsoft.com/office/drawing/2014/main" id="{AB6F401A-970C-4067-8F01-111049A6B318}"/>
                  </a:ext>
                </a:extLst>
              </p:cNvPr>
              <p:cNvSpPr/>
              <p:nvPr/>
            </p:nvSpPr>
            <p:spPr>
              <a:xfrm>
                <a:off x="2427257" y="3573372"/>
                <a:ext cx="252000" cy="252000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endParaRPr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1DA22EE7-2D1A-F44E-83DA-5F825250B979}"/>
                  </a:ext>
                </a:extLst>
              </p:cNvPr>
              <p:cNvGrpSpPr/>
              <p:nvPr/>
            </p:nvGrpSpPr>
            <p:grpSpPr>
              <a:xfrm>
                <a:off x="420216" y="2252044"/>
                <a:ext cx="8373205" cy="2020876"/>
                <a:chOff x="421473" y="417359"/>
                <a:chExt cx="8373205" cy="2020876"/>
              </a:xfrm>
            </p:grpSpPr>
            <p:sp>
              <p:nvSpPr>
                <p:cNvPr id="185" name="Google Shape;185;p20">
                  <a:extLst>
                    <a:ext uri="{FF2B5EF4-FFF2-40B4-BE49-F238E27FC236}">
                      <a16:creationId xmlns:a16="http://schemas.microsoft.com/office/drawing/2014/main" id="{41526FC0-3B66-E2CE-9EF4-C6F1FCD2664F}"/>
                    </a:ext>
                  </a:extLst>
                </p:cNvPr>
                <p:cNvSpPr/>
                <p:nvPr/>
              </p:nvSpPr>
              <p:spPr>
                <a:xfrm>
                  <a:off x="1392287" y="436864"/>
                  <a:ext cx="7402391" cy="200137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72" name="Google Shape;172;p20">
                  <a:extLst>
                    <a:ext uri="{FF2B5EF4-FFF2-40B4-BE49-F238E27FC236}">
                      <a16:creationId xmlns:a16="http://schemas.microsoft.com/office/drawing/2014/main" id="{48E57529-E2C4-9226-8E40-699F753852E3}"/>
                    </a:ext>
                  </a:extLst>
                </p:cNvPr>
                <p:cNvSpPr/>
                <p:nvPr/>
              </p:nvSpPr>
              <p:spPr>
                <a:xfrm>
                  <a:off x="2434389" y="578847"/>
                  <a:ext cx="252000" cy="252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968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r>
                    <a:rPr lang="fr-FR" dirty="0"/>
                    <a:t>👪</a:t>
                  </a:r>
                  <a:endParaRPr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83" name="Google Shape;183;p20">
                  <a:extLst>
                    <a:ext uri="{FF2B5EF4-FFF2-40B4-BE49-F238E27FC236}">
                      <a16:creationId xmlns:a16="http://schemas.microsoft.com/office/drawing/2014/main" id="{B7B9D2C5-F3AF-42F4-27D7-069B7697AC2C}"/>
                    </a:ext>
                  </a:extLst>
                </p:cNvPr>
                <p:cNvSpPr/>
                <p:nvPr/>
              </p:nvSpPr>
              <p:spPr>
                <a:xfrm>
                  <a:off x="421473" y="444486"/>
                  <a:ext cx="1964889" cy="1957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4" h="9514" extrusionOk="0">
                      <a:moveTo>
                        <a:pt x="4757" y="0"/>
                      </a:moveTo>
                      <a:cubicBezTo>
                        <a:pt x="2130" y="0"/>
                        <a:pt x="0" y="2130"/>
                        <a:pt x="0" y="4757"/>
                      </a:cubicBezTo>
                      <a:cubicBezTo>
                        <a:pt x="0" y="7384"/>
                        <a:pt x="2130" y="9514"/>
                        <a:pt x="4757" y="9514"/>
                      </a:cubicBezTo>
                      <a:cubicBezTo>
                        <a:pt x="7384" y="9514"/>
                        <a:pt x="9514" y="7384"/>
                        <a:pt x="9514" y="4757"/>
                      </a:cubicBezTo>
                      <a:cubicBezTo>
                        <a:pt x="9514" y="2130"/>
                        <a:pt x="7384" y="0"/>
                        <a:pt x="47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9" name="Google Shape;178;p20">
                  <a:extLst>
                    <a:ext uri="{FF2B5EF4-FFF2-40B4-BE49-F238E27FC236}">
                      <a16:creationId xmlns:a16="http://schemas.microsoft.com/office/drawing/2014/main" id="{22E62784-A03A-9631-4189-CFA3A6279858}"/>
                    </a:ext>
                  </a:extLst>
                </p:cNvPr>
                <p:cNvSpPr/>
                <p:nvPr/>
              </p:nvSpPr>
              <p:spPr>
                <a:xfrm>
                  <a:off x="2428514" y="2149821"/>
                  <a:ext cx="252000" cy="252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r>
                    <a:rPr lang="fr-FR" dirty="0"/>
                    <a:t>🛒</a:t>
                  </a:r>
                  <a:endParaRPr dirty="0">
                    <a:solidFill>
                      <a:schemeClr val="lt1"/>
                    </a:solidFill>
                  </a:endParaRPr>
                </a:p>
              </p:txBody>
            </p:sp>
            <p:grpSp>
              <p:nvGrpSpPr>
                <p:cNvPr id="2" name="Groupe 1">
                  <a:extLst>
                    <a:ext uri="{FF2B5EF4-FFF2-40B4-BE49-F238E27FC236}">
                      <a16:creationId xmlns:a16="http://schemas.microsoft.com/office/drawing/2014/main" id="{F417BCDD-A755-B79E-B505-64D27679B4BB}"/>
                    </a:ext>
                  </a:extLst>
                </p:cNvPr>
                <p:cNvGrpSpPr/>
                <p:nvPr/>
              </p:nvGrpSpPr>
              <p:grpSpPr>
                <a:xfrm>
                  <a:off x="2705848" y="417359"/>
                  <a:ext cx="5943967" cy="1960644"/>
                  <a:chOff x="2705848" y="417359"/>
                  <a:chExt cx="5943967" cy="1960644"/>
                </a:xfrm>
              </p:grpSpPr>
              <p:sp>
                <p:nvSpPr>
                  <p:cNvPr id="196" name="Google Shape;196;p20">
                    <a:extLst>
                      <a:ext uri="{FF2B5EF4-FFF2-40B4-BE49-F238E27FC236}">
                        <a16:creationId xmlns:a16="http://schemas.microsoft.com/office/drawing/2014/main" id="{509EB2C4-9659-DF3E-21A0-93C0E8799C4F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417359"/>
                    <a:ext cx="5943967" cy="52784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Ce sont systématiquement des parents, généralement dans des foyers de 2 à 4 personnes.</a:t>
                    </a:r>
                  </a:p>
                </p:txBody>
              </p:sp>
              <p:sp>
                <p:nvSpPr>
                  <p:cNvPr id="34" name="Google Shape;196;p20">
                    <a:extLst>
                      <a:ext uri="{FF2B5EF4-FFF2-40B4-BE49-F238E27FC236}">
                        <a16:creationId xmlns:a16="http://schemas.microsoft.com/office/drawing/2014/main" id="{BCAFDCD9-F2C6-90A0-F19C-9C6A69303715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1010317"/>
                    <a:ext cx="5567935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Un sous-groupe est constitué de parents isolés</a:t>
                    </a:r>
                    <a:endParaRPr dirty="0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35" name="Google Shape;196;p20">
                    <a:extLst>
                      <a:ext uri="{FF2B5EF4-FFF2-40B4-BE49-F238E27FC236}">
                        <a16:creationId xmlns:a16="http://schemas.microsoft.com/office/drawing/2014/main" id="{6659C473-221D-6A90-11C7-EEC58B35391C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1517687"/>
                    <a:ext cx="5567935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La majorité a au moins un adolescent à charge</a:t>
                    </a:r>
                    <a:endParaRPr dirty="0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36" name="Google Shape;196;p20">
                    <a:extLst>
                      <a:ext uri="{FF2B5EF4-FFF2-40B4-BE49-F238E27FC236}">
                        <a16:creationId xmlns:a16="http://schemas.microsoft.com/office/drawing/2014/main" id="{4DAE3CC0-0F19-5113-A37B-1B504A20C24D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9" y="2087288"/>
                    <a:ext cx="5567934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Ils sont relativement plus âgés. </a:t>
                    </a:r>
                    <a:endParaRPr dirty="0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AFAC82AE-9044-D1DE-E266-A0A729A85D3A}"/>
                    </a:ext>
                  </a:extLst>
                </p:cNvPr>
                <p:cNvSpPr txBox="1"/>
                <p:nvPr/>
              </p:nvSpPr>
              <p:spPr>
                <a:xfrm>
                  <a:off x="2278895" y="1588979"/>
                  <a:ext cx="5512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 algn="ctr"/>
                  <a:r>
                    <a:rPr lang="fr-FR" dirty="0"/>
                    <a:t>🧑‍🤝‍🧑</a:t>
                  </a:r>
                  <a:endParaRPr lang="fr-FR" dirty="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176" name="Google Shape;176;p20">
              <a:extLst>
                <a:ext uri="{FF2B5EF4-FFF2-40B4-BE49-F238E27FC236}">
                  <a16:creationId xmlns:a16="http://schemas.microsoft.com/office/drawing/2014/main" id="{A8EFEF95-B7FA-AA24-C5A7-F6DEE03FB717}"/>
                </a:ext>
              </a:extLst>
            </p:cNvPr>
            <p:cNvSpPr/>
            <p:nvPr/>
          </p:nvSpPr>
          <p:spPr>
            <a:xfrm>
              <a:off x="2366823" y="1162459"/>
              <a:ext cx="252000" cy="2520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fr-FR" sz="1800" dirty="0"/>
                <a:t>🎒</a:t>
              </a:r>
              <a:endParaRPr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F4A9EA11-5892-6FC4-49BD-B9D41ED25B1C}"/>
              </a:ext>
            </a:extLst>
          </p:cNvPr>
          <p:cNvGrpSpPr/>
          <p:nvPr/>
        </p:nvGrpSpPr>
        <p:grpSpPr>
          <a:xfrm>
            <a:off x="317489" y="3033391"/>
            <a:ext cx="8801177" cy="2001371"/>
            <a:chOff x="350579" y="515410"/>
            <a:chExt cx="8801177" cy="2001371"/>
          </a:xfrm>
        </p:grpSpPr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3D413946-C66D-4D9C-B174-F6E70E7BA363}"/>
                </a:ext>
              </a:extLst>
            </p:cNvPr>
            <p:cNvGrpSpPr/>
            <p:nvPr/>
          </p:nvGrpSpPr>
          <p:grpSpPr>
            <a:xfrm>
              <a:off x="350579" y="515410"/>
              <a:ext cx="8801177" cy="2001371"/>
              <a:chOff x="420216" y="2271549"/>
              <a:chExt cx="8801177" cy="2001371"/>
            </a:xfrm>
          </p:grpSpPr>
          <p:sp>
            <p:nvSpPr>
              <p:cNvPr id="30" name="Google Shape;178;p20">
                <a:extLst>
                  <a:ext uri="{FF2B5EF4-FFF2-40B4-BE49-F238E27FC236}">
                    <a16:creationId xmlns:a16="http://schemas.microsoft.com/office/drawing/2014/main" id="{8862C895-601B-4AA4-A9E6-5666885AC654}"/>
                  </a:ext>
                </a:extLst>
              </p:cNvPr>
              <p:cNvSpPr/>
              <p:nvPr/>
            </p:nvSpPr>
            <p:spPr>
              <a:xfrm>
                <a:off x="2427257" y="3573372"/>
                <a:ext cx="252000" cy="252000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endParaRPr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31" name="Groupe 30">
                <a:extLst>
                  <a:ext uri="{FF2B5EF4-FFF2-40B4-BE49-F238E27FC236}">
                    <a16:creationId xmlns:a16="http://schemas.microsoft.com/office/drawing/2014/main" id="{5DFF4957-7CB3-8F5E-A276-B5DCBB278F77}"/>
                  </a:ext>
                </a:extLst>
              </p:cNvPr>
              <p:cNvGrpSpPr/>
              <p:nvPr/>
            </p:nvGrpSpPr>
            <p:grpSpPr>
              <a:xfrm>
                <a:off x="420216" y="2271549"/>
                <a:ext cx="8801177" cy="2001371"/>
                <a:chOff x="421473" y="436864"/>
                <a:chExt cx="8801177" cy="2001371"/>
              </a:xfrm>
            </p:grpSpPr>
            <p:sp>
              <p:nvSpPr>
                <p:cNvPr id="33" name="Google Shape;185;p20">
                  <a:extLst>
                    <a:ext uri="{FF2B5EF4-FFF2-40B4-BE49-F238E27FC236}">
                      <a16:creationId xmlns:a16="http://schemas.microsoft.com/office/drawing/2014/main" id="{6FEA6484-4D3A-4CBF-102A-AF4E3E7221FF}"/>
                    </a:ext>
                  </a:extLst>
                </p:cNvPr>
                <p:cNvSpPr/>
                <p:nvPr/>
              </p:nvSpPr>
              <p:spPr>
                <a:xfrm>
                  <a:off x="1392287" y="436864"/>
                  <a:ext cx="7402391" cy="200137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8" name="Google Shape;172;p20">
                  <a:extLst>
                    <a:ext uri="{FF2B5EF4-FFF2-40B4-BE49-F238E27FC236}">
                      <a16:creationId xmlns:a16="http://schemas.microsoft.com/office/drawing/2014/main" id="{5B800E29-2298-2AEF-2511-470A42075BA0}"/>
                    </a:ext>
                  </a:extLst>
                </p:cNvPr>
                <p:cNvSpPr/>
                <p:nvPr/>
              </p:nvSpPr>
              <p:spPr>
                <a:xfrm>
                  <a:off x="2434389" y="578847"/>
                  <a:ext cx="252000" cy="252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968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r>
                    <a:rPr lang="fr-FR" dirty="0"/>
                    <a:t>👪</a:t>
                  </a:r>
                  <a:endParaRPr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9" name="Google Shape;180;p20">
                  <a:extLst>
                    <a:ext uri="{FF2B5EF4-FFF2-40B4-BE49-F238E27FC236}">
                      <a16:creationId xmlns:a16="http://schemas.microsoft.com/office/drawing/2014/main" id="{2D2CBC69-AFE0-7FC0-8E4D-296313E05CA6}"/>
                    </a:ext>
                  </a:extLst>
                </p:cNvPr>
                <p:cNvSpPr/>
                <p:nvPr/>
              </p:nvSpPr>
              <p:spPr>
                <a:xfrm>
                  <a:off x="2428514" y="968314"/>
                  <a:ext cx="252000" cy="2520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r>
                    <a:rPr lang="fr-FR" dirty="0"/>
                    <a:t>💰</a:t>
                  </a:r>
                  <a:endParaRPr dirty="0">
                    <a:solidFill>
                      <a:schemeClr val="lt1"/>
                    </a:solidFill>
                  </a:endParaRPr>
                </a:p>
              </p:txBody>
            </p:sp>
            <p:grpSp>
              <p:nvGrpSpPr>
                <p:cNvPr id="40" name="Groupe 39">
                  <a:extLst>
                    <a:ext uri="{FF2B5EF4-FFF2-40B4-BE49-F238E27FC236}">
                      <a16:creationId xmlns:a16="http://schemas.microsoft.com/office/drawing/2014/main" id="{6ABB3500-785D-47C0-4E99-78F03867FD74}"/>
                    </a:ext>
                  </a:extLst>
                </p:cNvPr>
                <p:cNvGrpSpPr/>
                <p:nvPr/>
              </p:nvGrpSpPr>
              <p:grpSpPr>
                <a:xfrm>
                  <a:off x="421473" y="444486"/>
                  <a:ext cx="1964889" cy="1957335"/>
                  <a:chOff x="3680575" y="1081725"/>
                  <a:chExt cx="1782828" cy="1782852"/>
                </a:xfrm>
              </p:grpSpPr>
              <p:sp>
                <p:nvSpPr>
                  <p:cNvPr id="49" name="Google Shape;183;p20">
                    <a:extLst>
                      <a:ext uri="{FF2B5EF4-FFF2-40B4-BE49-F238E27FC236}">
                        <a16:creationId xmlns:a16="http://schemas.microsoft.com/office/drawing/2014/main" id="{B5954AFB-02A0-D7F8-B2E3-4B2994921C98}"/>
                      </a:ext>
                    </a:extLst>
                  </p:cNvPr>
                  <p:cNvSpPr/>
                  <p:nvPr/>
                </p:nvSpPr>
                <p:spPr>
                  <a:xfrm>
                    <a:off x="3680575" y="1081725"/>
                    <a:ext cx="1782828" cy="1782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4" h="9514" extrusionOk="0">
                        <a:moveTo>
                          <a:pt x="4757" y="0"/>
                        </a:moveTo>
                        <a:cubicBezTo>
                          <a:pt x="2130" y="0"/>
                          <a:pt x="0" y="2130"/>
                          <a:pt x="0" y="4757"/>
                        </a:cubicBezTo>
                        <a:cubicBezTo>
                          <a:pt x="0" y="7384"/>
                          <a:pt x="2130" y="9514"/>
                          <a:pt x="4757" y="9514"/>
                        </a:cubicBezTo>
                        <a:cubicBezTo>
                          <a:pt x="7384" y="9514"/>
                          <a:pt x="9514" y="7384"/>
                          <a:pt x="9514" y="4757"/>
                        </a:cubicBezTo>
                        <a:cubicBezTo>
                          <a:pt x="9514" y="2130"/>
                          <a:pt x="7384" y="0"/>
                          <a:pt x="4757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pic>
                <p:nvPicPr>
                  <p:cNvPr id="50" name="Graphique 49" descr="Homme et femme avec un remplissage uni">
                    <a:extLst>
                      <a:ext uri="{FF2B5EF4-FFF2-40B4-BE49-F238E27FC236}">
                        <a16:creationId xmlns:a16="http://schemas.microsoft.com/office/drawing/2014/main" id="{C3E09AC6-FEC3-D6D8-47C7-C72B895B42D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706897" y="1099197"/>
                    <a:ext cx="1679806" cy="1679806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41" name="Google Shape;178;p20">
                  <a:extLst>
                    <a:ext uri="{FF2B5EF4-FFF2-40B4-BE49-F238E27FC236}">
                      <a16:creationId xmlns:a16="http://schemas.microsoft.com/office/drawing/2014/main" id="{CC9D1A87-A7EF-3FA5-E2CD-F75989F13375}"/>
                    </a:ext>
                  </a:extLst>
                </p:cNvPr>
                <p:cNvSpPr/>
                <p:nvPr/>
              </p:nvSpPr>
              <p:spPr>
                <a:xfrm>
                  <a:off x="2428514" y="2149821"/>
                  <a:ext cx="252000" cy="252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r>
                    <a:rPr lang="fr-FR" dirty="0"/>
                    <a:t>🛒</a:t>
                  </a:r>
                  <a:endParaRPr dirty="0">
                    <a:solidFill>
                      <a:schemeClr val="lt1"/>
                    </a:solidFill>
                  </a:endParaRPr>
                </a:p>
              </p:txBody>
            </p:sp>
            <p:grpSp>
              <p:nvGrpSpPr>
                <p:cNvPr id="42" name="Groupe 41">
                  <a:extLst>
                    <a:ext uri="{FF2B5EF4-FFF2-40B4-BE49-F238E27FC236}">
                      <a16:creationId xmlns:a16="http://schemas.microsoft.com/office/drawing/2014/main" id="{A2FC2C5D-C8C7-082A-DFD6-B99842A35C92}"/>
                    </a:ext>
                  </a:extLst>
                </p:cNvPr>
                <p:cNvGrpSpPr/>
                <p:nvPr/>
              </p:nvGrpSpPr>
              <p:grpSpPr>
                <a:xfrm>
                  <a:off x="2680514" y="510050"/>
                  <a:ext cx="6542136" cy="1867953"/>
                  <a:chOff x="2680514" y="510050"/>
                  <a:chExt cx="6542136" cy="1867953"/>
                </a:xfrm>
              </p:grpSpPr>
              <p:sp>
                <p:nvSpPr>
                  <p:cNvPr id="44" name="Google Shape;196;p20">
                    <a:extLst>
                      <a:ext uri="{FF2B5EF4-FFF2-40B4-BE49-F238E27FC236}">
                        <a16:creationId xmlns:a16="http://schemas.microsoft.com/office/drawing/2014/main" id="{ADBCB738-2C29-A6E7-F1B4-973AA0F83FE4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510050"/>
                    <a:ext cx="5567935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Ils ne sont pas parents dans leur grande majorité.</a:t>
                    </a:r>
                  </a:p>
                </p:txBody>
              </p:sp>
              <p:sp>
                <p:nvSpPr>
                  <p:cNvPr id="45" name="Google Shape;196;p20">
                    <a:extLst>
                      <a:ext uri="{FF2B5EF4-FFF2-40B4-BE49-F238E27FC236}">
                        <a16:creationId xmlns:a16="http://schemas.microsoft.com/office/drawing/2014/main" id="{FEC2C653-2FE8-5962-6489-302EEBE7C468}"/>
                      </a:ext>
                    </a:extLst>
                  </p:cNvPr>
                  <p:cNvSpPr txBox="1"/>
                  <p:nvPr/>
                </p:nvSpPr>
                <p:spPr>
                  <a:xfrm>
                    <a:off x="2680514" y="1358536"/>
                    <a:ext cx="6542136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Composés surtout de couples (légèrement plus nombreux que les célibataires)</a:t>
                    </a:r>
                  </a:p>
                </p:txBody>
              </p:sp>
              <p:sp>
                <p:nvSpPr>
                  <p:cNvPr id="46" name="Google Shape;196;p20">
                    <a:extLst>
                      <a:ext uri="{FF2B5EF4-FFF2-40B4-BE49-F238E27FC236}">
                        <a16:creationId xmlns:a16="http://schemas.microsoft.com/office/drawing/2014/main" id="{A77D9DA2-0947-B8B6-CCED-880301074E47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1722912"/>
                    <a:ext cx="5567935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Le ménage ne dépasse jamais 2 membres</a:t>
                    </a:r>
                  </a:p>
                </p:txBody>
              </p:sp>
              <p:sp>
                <p:nvSpPr>
                  <p:cNvPr id="47" name="Google Shape;196;p20">
                    <a:extLst>
                      <a:ext uri="{FF2B5EF4-FFF2-40B4-BE49-F238E27FC236}">
                        <a16:creationId xmlns:a16="http://schemas.microsoft.com/office/drawing/2014/main" id="{E6BE2D63-6F82-1D50-FE03-279AD4053C6F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9" y="2087288"/>
                    <a:ext cx="5567934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Ce cluster couvre toutes les tranches d’âge</a:t>
                    </a:r>
                  </a:p>
                </p:txBody>
              </p:sp>
              <p:sp>
                <p:nvSpPr>
                  <p:cNvPr id="48" name="Google Shape;196;p20">
                    <a:extLst>
                      <a:ext uri="{FF2B5EF4-FFF2-40B4-BE49-F238E27FC236}">
                        <a16:creationId xmlns:a16="http://schemas.microsoft.com/office/drawing/2014/main" id="{3B76E28D-2C31-2126-388F-13613EBF2692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900435"/>
                    <a:ext cx="5567935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Il s’agit d’un groupe à revenu élevé avec des dépenses marquées.</a:t>
                    </a:r>
                    <a:endParaRPr dirty="0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0242A3D3-4B49-E189-82B6-285FFC6F7F14}"/>
                    </a:ext>
                  </a:extLst>
                </p:cNvPr>
                <p:cNvSpPr txBox="1"/>
                <p:nvPr/>
              </p:nvSpPr>
              <p:spPr>
                <a:xfrm>
                  <a:off x="2278895" y="1709523"/>
                  <a:ext cx="5512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 algn="ctr"/>
                  <a:r>
                    <a:rPr lang="fr-FR" dirty="0"/>
                    <a:t>🧑‍🤝‍🧑</a:t>
                  </a:r>
                  <a:endParaRPr lang="fr-FR" dirty="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28" name="Google Shape;176;p20">
              <a:extLst>
                <a:ext uri="{FF2B5EF4-FFF2-40B4-BE49-F238E27FC236}">
                  <a16:creationId xmlns:a16="http://schemas.microsoft.com/office/drawing/2014/main" id="{4BC81047-EB5D-3EEA-57B5-C6C0F2CC4051}"/>
                </a:ext>
              </a:extLst>
            </p:cNvPr>
            <p:cNvSpPr/>
            <p:nvPr/>
          </p:nvSpPr>
          <p:spPr>
            <a:xfrm>
              <a:off x="2366823" y="1496690"/>
              <a:ext cx="252000" cy="2520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fr-FR" sz="1800" dirty="0"/>
                <a:t>🎒</a:t>
              </a:r>
              <a:endParaRPr dirty="0">
                <a:solidFill>
                  <a:schemeClr val="lt1"/>
                </a:solidFill>
              </a:endParaRPr>
            </a:p>
          </p:txBody>
        </p:sp>
      </p:grpSp>
      <p:sp>
        <p:nvSpPr>
          <p:cNvPr id="51" name="Google Shape;181;p20">
            <a:extLst>
              <a:ext uri="{FF2B5EF4-FFF2-40B4-BE49-F238E27FC236}">
                <a16:creationId xmlns:a16="http://schemas.microsoft.com/office/drawing/2014/main" id="{67EDC382-64C3-75E1-61F9-8949B5EBF7D0}"/>
              </a:ext>
            </a:extLst>
          </p:cNvPr>
          <p:cNvSpPr txBox="1">
            <a:spLocks/>
          </p:cNvSpPr>
          <p:nvPr/>
        </p:nvSpPr>
        <p:spPr>
          <a:xfrm>
            <a:off x="941111" y="33568"/>
            <a:ext cx="695562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dirty="0"/>
              <a:t>Cluster 0 : Parents matures en famille moyenne</a:t>
            </a:r>
          </a:p>
        </p:txBody>
      </p:sp>
      <p:pic>
        <p:nvPicPr>
          <p:cNvPr id="54" name="Graphique 53" descr="Homme avec canne avec un remplissage uni">
            <a:extLst>
              <a:ext uri="{FF2B5EF4-FFF2-40B4-BE49-F238E27FC236}">
                <a16:creationId xmlns:a16="http://schemas.microsoft.com/office/drawing/2014/main" id="{5B2054EC-7B8C-A002-A228-84157EED3E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999" y="529673"/>
            <a:ext cx="1818379" cy="181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548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C0742CCA-644D-D02E-8270-107BB020E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5;p20">
            <a:extLst>
              <a:ext uri="{FF2B5EF4-FFF2-40B4-BE49-F238E27FC236}">
                <a16:creationId xmlns:a16="http://schemas.microsoft.com/office/drawing/2014/main" id="{B8DC9147-D5A1-5768-BB51-D9DA8D0432B2}"/>
              </a:ext>
            </a:extLst>
          </p:cNvPr>
          <p:cNvSpPr/>
          <p:nvPr/>
        </p:nvSpPr>
        <p:spPr>
          <a:xfrm>
            <a:off x="1514004" y="3040853"/>
            <a:ext cx="7629996" cy="2001371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71" name="Google Shape;171;p20">
            <a:extLst>
              <a:ext uri="{FF2B5EF4-FFF2-40B4-BE49-F238E27FC236}">
                <a16:creationId xmlns:a16="http://schemas.microsoft.com/office/drawing/2014/main" id="{EAD2CAB2-0D15-2085-9B06-899B822A70DB}"/>
              </a:ext>
            </a:extLst>
          </p:cNvPr>
          <p:cNvSpPr/>
          <p:nvPr/>
        </p:nvSpPr>
        <p:spPr>
          <a:xfrm>
            <a:off x="3925200" y="1360250"/>
            <a:ext cx="1290000" cy="1290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0">
            <a:extLst>
              <a:ext uri="{FF2B5EF4-FFF2-40B4-BE49-F238E27FC236}">
                <a16:creationId xmlns:a16="http://schemas.microsoft.com/office/drawing/2014/main" id="{53DB8247-4330-3A78-FAB1-C2BAFCA352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2172" y="2594016"/>
            <a:ext cx="745161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Cluster 3 :Grandes familles traditionnelles à faibles revenus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B2B9B9E1-E83E-F258-7D88-4FDBCACB68B1}"/>
              </a:ext>
            </a:extLst>
          </p:cNvPr>
          <p:cNvGrpSpPr/>
          <p:nvPr/>
        </p:nvGrpSpPr>
        <p:grpSpPr>
          <a:xfrm>
            <a:off x="350579" y="515410"/>
            <a:ext cx="8373205" cy="2001371"/>
            <a:chOff x="350579" y="515410"/>
            <a:chExt cx="8373205" cy="2001371"/>
          </a:xfrm>
        </p:grpSpPr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DBEFD3A6-7443-B6F0-74C9-610DA9000F40}"/>
                </a:ext>
              </a:extLst>
            </p:cNvPr>
            <p:cNvGrpSpPr/>
            <p:nvPr/>
          </p:nvGrpSpPr>
          <p:grpSpPr>
            <a:xfrm>
              <a:off x="350579" y="515410"/>
              <a:ext cx="8373205" cy="2001371"/>
              <a:chOff x="420216" y="2271549"/>
              <a:chExt cx="8373205" cy="2001371"/>
            </a:xfrm>
          </p:grpSpPr>
          <p:sp>
            <p:nvSpPr>
              <p:cNvPr id="178" name="Google Shape;178;p20">
                <a:extLst>
                  <a:ext uri="{FF2B5EF4-FFF2-40B4-BE49-F238E27FC236}">
                    <a16:creationId xmlns:a16="http://schemas.microsoft.com/office/drawing/2014/main" id="{1A3A8160-0883-99DE-E642-2DFD0CA9B99A}"/>
                  </a:ext>
                </a:extLst>
              </p:cNvPr>
              <p:cNvSpPr/>
              <p:nvPr/>
            </p:nvSpPr>
            <p:spPr>
              <a:xfrm>
                <a:off x="2427257" y="3573372"/>
                <a:ext cx="252000" cy="252000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endParaRPr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87A7D50D-0CEC-2EF5-CB46-A105F43B04E1}"/>
                  </a:ext>
                </a:extLst>
              </p:cNvPr>
              <p:cNvGrpSpPr/>
              <p:nvPr/>
            </p:nvGrpSpPr>
            <p:grpSpPr>
              <a:xfrm>
                <a:off x="420216" y="2271549"/>
                <a:ext cx="8373205" cy="2001371"/>
                <a:chOff x="421473" y="436864"/>
                <a:chExt cx="8373205" cy="2001371"/>
              </a:xfrm>
            </p:grpSpPr>
            <p:sp>
              <p:nvSpPr>
                <p:cNvPr id="185" name="Google Shape;185;p20">
                  <a:extLst>
                    <a:ext uri="{FF2B5EF4-FFF2-40B4-BE49-F238E27FC236}">
                      <a16:creationId xmlns:a16="http://schemas.microsoft.com/office/drawing/2014/main" id="{9FF8F027-1245-9892-0043-A4ED0DE941A9}"/>
                    </a:ext>
                  </a:extLst>
                </p:cNvPr>
                <p:cNvSpPr/>
                <p:nvPr/>
              </p:nvSpPr>
              <p:spPr>
                <a:xfrm>
                  <a:off x="1392287" y="436864"/>
                  <a:ext cx="7402391" cy="200137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72" name="Google Shape;172;p20">
                  <a:extLst>
                    <a:ext uri="{FF2B5EF4-FFF2-40B4-BE49-F238E27FC236}">
                      <a16:creationId xmlns:a16="http://schemas.microsoft.com/office/drawing/2014/main" id="{0922271E-3094-753A-06D0-46FC5FE3FC47}"/>
                    </a:ext>
                  </a:extLst>
                </p:cNvPr>
                <p:cNvSpPr/>
                <p:nvPr/>
              </p:nvSpPr>
              <p:spPr>
                <a:xfrm>
                  <a:off x="2434389" y="578847"/>
                  <a:ext cx="252000" cy="252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968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r>
                    <a:rPr lang="fr-FR" dirty="0"/>
                    <a:t>👪</a:t>
                  </a:r>
                  <a:endParaRPr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83" name="Google Shape;183;p20">
                  <a:extLst>
                    <a:ext uri="{FF2B5EF4-FFF2-40B4-BE49-F238E27FC236}">
                      <a16:creationId xmlns:a16="http://schemas.microsoft.com/office/drawing/2014/main" id="{622C44D8-8EA1-C525-4DBA-3403A51D2B27}"/>
                    </a:ext>
                  </a:extLst>
                </p:cNvPr>
                <p:cNvSpPr/>
                <p:nvPr/>
              </p:nvSpPr>
              <p:spPr>
                <a:xfrm>
                  <a:off x="421473" y="444486"/>
                  <a:ext cx="1964889" cy="1957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4" h="9514" extrusionOk="0">
                      <a:moveTo>
                        <a:pt x="4757" y="0"/>
                      </a:moveTo>
                      <a:cubicBezTo>
                        <a:pt x="2130" y="0"/>
                        <a:pt x="0" y="2130"/>
                        <a:pt x="0" y="4757"/>
                      </a:cubicBezTo>
                      <a:cubicBezTo>
                        <a:pt x="0" y="7384"/>
                        <a:pt x="2130" y="9514"/>
                        <a:pt x="4757" y="9514"/>
                      </a:cubicBezTo>
                      <a:cubicBezTo>
                        <a:pt x="7384" y="9514"/>
                        <a:pt x="9514" y="7384"/>
                        <a:pt x="9514" y="4757"/>
                      </a:cubicBezTo>
                      <a:cubicBezTo>
                        <a:pt x="9514" y="2130"/>
                        <a:pt x="7384" y="0"/>
                        <a:pt x="47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9" name="Google Shape;178;p20">
                  <a:extLst>
                    <a:ext uri="{FF2B5EF4-FFF2-40B4-BE49-F238E27FC236}">
                      <a16:creationId xmlns:a16="http://schemas.microsoft.com/office/drawing/2014/main" id="{581F6E97-7661-7DBE-3F3D-2F6F3C67ED69}"/>
                    </a:ext>
                  </a:extLst>
                </p:cNvPr>
                <p:cNvSpPr/>
                <p:nvPr/>
              </p:nvSpPr>
              <p:spPr>
                <a:xfrm>
                  <a:off x="2428514" y="2149821"/>
                  <a:ext cx="252000" cy="252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r>
                    <a:rPr lang="fr-FR" dirty="0"/>
                    <a:t>🛒</a:t>
                  </a:r>
                  <a:endParaRPr dirty="0">
                    <a:solidFill>
                      <a:schemeClr val="lt1"/>
                    </a:solidFill>
                  </a:endParaRPr>
                </a:p>
              </p:txBody>
            </p:sp>
            <p:grpSp>
              <p:nvGrpSpPr>
                <p:cNvPr id="2" name="Groupe 1">
                  <a:extLst>
                    <a:ext uri="{FF2B5EF4-FFF2-40B4-BE49-F238E27FC236}">
                      <a16:creationId xmlns:a16="http://schemas.microsoft.com/office/drawing/2014/main" id="{30D87D05-2E24-98CF-757D-602875483D95}"/>
                    </a:ext>
                  </a:extLst>
                </p:cNvPr>
                <p:cNvGrpSpPr/>
                <p:nvPr/>
              </p:nvGrpSpPr>
              <p:grpSpPr>
                <a:xfrm>
                  <a:off x="2705848" y="510050"/>
                  <a:ext cx="5882322" cy="1867953"/>
                  <a:chOff x="2705848" y="510050"/>
                  <a:chExt cx="5882322" cy="1867953"/>
                </a:xfrm>
              </p:grpSpPr>
              <p:sp>
                <p:nvSpPr>
                  <p:cNvPr id="196" name="Google Shape;196;p20">
                    <a:extLst>
                      <a:ext uri="{FF2B5EF4-FFF2-40B4-BE49-F238E27FC236}">
                        <a16:creationId xmlns:a16="http://schemas.microsoft.com/office/drawing/2014/main" id="{C977F475-8428-AEFC-FA20-512AC00384D6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510050"/>
                    <a:ext cx="5567935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 La majorité sont des parents jeunes</a:t>
                    </a:r>
                  </a:p>
                </p:txBody>
              </p:sp>
              <p:sp>
                <p:nvSpPr>
                  <p:cNvPr id="34" name="Google Shape;196;p20">
                    <a:extLst>
                      <a:ext uri="{FF2B5EF4-FFF2-40B4-BE49-F238E27FC236}">
                        <a16:creationId xmlns:a16="http://schemas.microsoft.com/office/drawing/2014/main" id="{21F0D88B-694E-AE93-0F59-1C7B18DD6298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1035796"/>
                    <a:ext cx="5882322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Les familles comptent 2 à 3 membres souvent avec un seul enfant .</a:t>
                    </a:r>
                  </a:p>
                </p:txBody>
              </p:sp>
              <p:sp>
                <p:nvSpPr>
                  <p:cNvPr id="35" name="Google Shape;196;p20">
                    <a:extLst>
                      <a:ext uri="{FF2B5EF4-FFF2-40B4-BE49-F238E27FC236}">
                        <a16:creationId xmlns:a16="http://schemas.microsoft.com/office/drawing/2014/main" id="{BD2CAD35-98CD-776D-21A2-D70F0E89D709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1561542"/>
                    <a:ext cx="5567935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Groupe plus jeune que la moyenne</a:t>
                    </a:r>
                  </a:p>
                </p:txBody>
              </p:sp>
              <p:sp>
                <p:nvSpPr>
                  <p:cNvPr id="36" name="Google Shape;196;p20">
                    <a:extLst>
                      <a:ext uri="{FF2B5EF4-FFF2-40B4-BE49-F238E27FC236}">
                        <a16:creationId xmlns:a16="http://schemas.microsoft.com/office/drawing/2014/main" id="{615502DD-B402-D695-687B-4303B0EDFA00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9" y="2087288"/>
                    <a:ext cx="5567934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Leur comportement d’achat reste modéré.</a:t>
                    </a:r>
                    <a:endParaRPr dirty="0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42064272-9360-CD79-A9D7-4721B6BE09D6}"/>
                    </a:ext>
                  </a:extLst>
                </p:cNvPr>
                <p:cNvSpPr txBox="1"/>
                <p:nvPr/>
              </p:nvSpPr>
              <p:spPr>
                <a:xfrm>
                  <a:off x="2278895" y="1588979"/>
                  <a:ext cx="5512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 algn="ctr"/>
                  <a:r>
                    <a:rPr lang="fr-FR" dirty="0"/>
                    <a:t>🧑‍🤝‍🧑</a:t>
                  </a:r>
                  <a:endParaRPr lang="fr-FR" dirty="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176" name="Google Shape;176;p20">
              <a:extLst>
                <a:ext uri="{FF2B5EF4-FFF2-40B4-BE49-F238E27FC236}">
                  <a16:creationId xmlns:a16="http://schemas.microsoft.com/office/drawing/2014/main" id="{24538704-E6DC-B7D7-3630-C9B0EC81D820}"/>
                </a:ext>
              </a:extLst>
            </p:cNvPr>
            <p:cNvSpPr/>
            <p:nvPr/>
          </p:nvSpPr>
          <p:spPr>
            <a:xfrm>
              <a:off x="2366823" y="1162459"/>
              <a:ext cx="252000" cy="2520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fr-FR" sz="1800" dirty="0"/>
                <a:t>🎒</a:t>
              </a:r>
              <a:endParaRPr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0AC25510-0C06-6A6A-DAE7-8B739A7AD1F8}"/>
              </a:ext>
            </a:extLst>
          </p:cNvPr>
          <p:cNvGrpSpPr/>
          <p:nvPr/>
        </p:nvGrpSpPr>
        <p:grpSpPr>
          <a:xfrm>
            <a:off x="317489" y="3041013"/>
            <a:ext cx="8990898" cy="1957335"/>
            <a:chOff x="420216" y="2279171"/>
            <a:chExt cx="8990898" cy="1957335"/>
          </a:xfrm>
        </p:grpSpPr>
        <p:sp>
          <p:nvSpPr>
            <p:cNvPr id="30" name="Google Shape;178;p20">
              <a:extLst>
                <a:ext uri="{FF2B5EF4-FFF2-40B4-BE49-F238E27FC236}">
                  <a16:creationId xmlns:a16="http://schemas.microsoft.com/office/drawing/2014/main" id="{B466E965-F991-E34B-5F35-B291D681A158}"/>
                </a:ext>
              </a:extLst>
            </p:cNvPr>
            <p:cNvSpPr/>
            <p:nvPr/>
          </p:nvSpPr>
          <p:spPr>
            <a:xfrm>
              <a:off x="2427257" y="3573372"/>
              <a:ext cx="252000" cy="2520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endParaRPr dirty="0">
                <a:solidFill>
                  <a:schemeClr val="lt1"/>
                </a:solidFill>
              </a:endParaRPr>
            </a:p>
          </p:txBody>
        </p: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44470A35-5971-0B02-3D88-70491FA6B1E5}"/>
                </a:ext>
              </a:extLst>
            </p:cNvPr>
            <p:cNvGrpSpPr/>
            <p:nvPr/>
          </p:nvGrpSpPr>
          <p:grpSpPr>
            <a:xfrm>
              <a:off x="420216" y="2279171"/>
              <a:ext cx="8990898" cy="1957335"/>
              <a:chOff x="421473" y="444486"/>
              <a:chExt cx="8990898" cy="1957335"/>
            </a:xfrm>
          </p:grpSpPr>
          <p:sp>
            <p:nvSpPr>
              <p:cNvPr id="38" name="Google Shape;172;p20">
                <a:extLst>
                  <a:ext uri="{FF2B5EF4-FFF2-40B4-BE49-F238E27FC236}">
                    <a16:creationId xmlns:a16="http://schemas.microsoft.com/office/drawing/2014/main" id="{31B3575A-8708-C28A-0DF3-97ED6773EF66}"/>
                  </a:ext>
                </a:extLst>
              </p:cNvPr>
              <p:cNvSpPr/>
              <p:nvPr/>
            </p:nvSpPr>
            <p:spPr>
              <a:xfrm>
                <a:off x="2434389" y="578847"/>
                <a:ext cx="252000" cy="252000"/>
              </a:xfrm>
              <a:prstGeom prst="roundRect">
                <a:avLst>
                  <a:gd name="adj" fmla="val 16667"/>
                </a:avLst>
              </a:prstGeom>
              <a:solidFill>
                <a:srgbClr val="0096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fr-FR" dirty="0"/>
                  <a:t>👪</a:t>
                </a:r>
                <a:endParaRPr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39" name="Google Shape;180;p20">
                <a:extLst>
                  <a:ext uri="{FF2B5EF4-FFF2-40B4-BE49-F238E27FC236}">
                    <a16:creationId xmlns:a16="http://schemas.microsoft.com/office/drawing/2014/main" id="{16AE0C15-D427-2DFB-E043-8804AA766D5B}"/>
                  </a:ext>
                </a:extLst>
              </p:cNvPr>
              <p:cNvSpPr/>
              <p:nvPr/>
            </p:nvSpPr>
            <p:spPr>
              <a:xfrm>
                <a:off x="2428514" y="1083913"/>
                <a:ext cx="252000" cy="25200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fr-FR" dirty="0"/>
                  <a:t>💰</a:t>
                </a:r>
                <a:endParaRPr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49" name="Google Shape;183;p20">
                <a:extLst>
                  <a:ext uri="{FF2B5EF4-FFF2-40B4-BE49-F238E27FC236}">
                    <a16:creationId xmlns:a16="http://schemas.microsoft.com/office/drawing/2014/main" id="{D1218C99-2D68-F6FA-C926-7042072D0765}"/>
                  </a:ext>
                </a:extLst>
              </p:cNvPr>
              <p:cNvSpPr/>
              <p:nvPr/>
            </p:nvSpPr>
            <p:spPr>
              <a:xfrm>
                <a:off x="421473" y="444486"/>
                <a:ext cx="1964889" cy="1957335"/>
              </a:xfrm>
              <a:custGeom>
                <a:avLst/>
                <a:gdLst/>
                <a:ahLst/>
                <a:cxnLst/>
                <a:rect l="l" t="t" r="r" b="b"/>
                <a:pathLst>
                  <a:path w="9514" h="9514" extrusionOk="0">
                    <a:moveTo>
                      <a:pt x="4757" y="0"/>
                    </a:moveTo>
                    <a:cubicBezTo>
                      <a:pt x="2130" y="0"/>
                      <a:pt x="0" y="2130"/>
                      <a:pt x="0" y="4757"/>
                    </a:cubicBezTo>
                    <a:cubicBezTo>
                      <a:pt x="0" y="7384"/>
                      <a:pt x="2130" y="9514"/>
                      <a:pt x="4757" y="9514"/>
                    </a:cubicBezTo>
                    <a:cubicBezTo>
                      <a:pt x="7384" y="9514"/>
                      <a:pt x="9514" y="7384"/>
                      <a:pt x="9514" y="4757"/>
                    </a:cubicBezTo>
                    <a:cubicBezTo>
                      <a:pt x="9514" y="2130"/>
                      <a:pt x="7384" y="0"/>
                      <a:pt x="47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78;p20">
                <a:extLst>
                  <a:ext uri="{FF2B5EF4-FFF2-40B4-BE49-F238E27FC236}">
                    <a16:creationId xmlns:a16="http://schemas.microsoft.com/office/drawing/2014/main" id="{C6F5AF58-4A7E-4F1D-063C-913755DBB6AC}"/>
                  </a:ext>
                </a:extLst>
              </p:cNvPr>
              <p:cNvSpPr/>
              <p:nvPr/>
            </p:nvSpPr>
            <p:spPr>
              <a:xfrm>
                <a:off x="2428514" y="2149821"/>
                <a:ext cx="252000" cy="252000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fr-FR" dirty="0"/>
                  <a:t>🛒</a:t>
                </a:r>
                <a:endParaRPr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42" name="Groupe 41">
                <a:extLst>
                  <a:ext uri="{FF2B5EF4-FFF2-40B4-BE49-F238E27FC236}">
                    <a16:creationId xmlns:a16="http://schemas.microsoft.com/office/drawing/2014/main" id="{E5321595-739A-2380-6B1D-CEC227998CF4}"/>
                  </a:ext>
                </a:extLst>
              </p:cNvPr>
              <p:cNvGrpSpPr/>
              <p:nvPr/>
            </p:nvGrpSpPr>
            <p:grpSpPr>
              <a:xfrm>
                <a:off x="2705848" y="510050"/>
                <a:ext cx="6706523" cy="1867953"/>
                <a:chOff x="2705848" y="510050"/>
                <a:chExt cx="6706523" cy="1867953"/>
              </a:xfrm>
            </p:grpSpPr>
            <p:sp>
              <p:nvSpPr>
                <p:cNvPr id="44" name="Google Shape;196;p20">
                  <a:extLst>
                    <a:ext uri="{FF2B5EF4-FFF2-40B4-BE49-F238E27FC236}">
                      <a16:creationId xmlns:a16="http://schemas.microsoft.com/office/drawing/2014/main" id="{70DEEFF2-8CCE-3F0E-4D84-54E689412ED5}"/>
                    </a:ext>
                  </a:extLst>
                </p:cNvPr>
                <p:cNvSpPr txBox="1"/>
                <p:nvPr/>
              </p:nvSpPr>
              <p:spPr>
                <a:xfrm>
                  <a:off x="2705848" y="510050"/>
                  <a:ext cx="6007880" cy="2907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lvl="0"/>
                  <a:r>
                    <a:rPr lang="fr-FR" dirty="0"/>
                    <a:t>Composés uniquement de parents dans des familles de 2 à 5 personnes</a:t>
                  </a:r>
                </a:p>
              </p:txBody>
            </p:sp>
            <p:sp>
              <p:nvSpPr>
                <p:cNvPr id="46" name="Google Shape;196;p20">
                  <a:extLst>
                    <a:ext uri="{FF2B5EF4-FFF2-40B4-BE49-F238E27FC236}">
                      <a16:creationId xmlns:a16="http://schemas.microsoft.com/office/drawing/2014/main" id="{A80F3D56-D6D5-CEF7-865E-673D15E368C3}"/>
                    </a:ext>
                  </a:extLst>
                </p:cNvPr>
                <p:cNvSpPr txBox="1"/>
                <p:nvPr/>
              </p:nvSpPr>
              <p:spPr>
                <a:xfrm>
                  <a:off x="2705848" y="1561542"/>
                  <a:ext cx="5567935" cy="2907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lvl="0"/>
                  <a:r>
                    <a:rPr lang="fr-FR" dirty="0"/>
                    <a:t> La plupart ont un adolescent à domicile</a:t>
                  </a:r>
                </a:p>
              </p:txBody>
            </p:sp>
            <p:sp>
              <p:nvSpPr>
                <p:cNvPr id="47" name="Google Shape;196;p20">
                  <a:extLst>
                    <a:ext uri="{FF2B5EF4-FFF2-40B4-BE49-F238E27FC236}">
                      <a16:creationId xmlns:a16="http://schemas.microsoft.com/office/drawing/2014/main" id="{8BE6D7CE-AEA4-1BDF-68C0-02F73202C3F3}"/>
                    </a:ext>
                  </a:extLst>
                </p:cNvPr>
                <p:cNvSpPr txBox="1"/>
                <p:nvPr/>
              </p:nvSpPr>
              <p:spPr>
                <a:xfrm>
                  <a:off x="2705849" y="2087288"/>
                  <a:ext cx="6706522" cy="2907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lvl="0"/>
                  <a:r>
                    <a:rPr lang="fr-FR" dirty="0"/>
                    <a:t> Malgré des revenus modestes, leur engagement dans certaines offres est élevé. </a:t>
                  </a:r>
                  <a:endParaRPr dirty="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48" name="Google Shape;196;p20">
                  <a:extLst>
                    <a:ext uri="{FF2B5EF4-FFF2-40B4-BE49-F238E27FC236}">
                      <a16:creationId xmlns:a16="http://schemas.microsoft.com/office/drawing/2014/main" id="{C04DD5AC-B287-2B67-D8F4-81070599F77F}"/>
                    </a:ext>
                  </a:extLst>
                </p:cNvPr>
                <p:cNvSpPr txBox="1"/>
                <p:nvPr/>
              </p:nvSpPr>
              <p:spPr>
                <a:xfrm>
                  <a:off x="2705848" y="1035796"/>
                  <a:ext cx="6542136" cy="2907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lvl="0"/>
                  <a:r>
                    <a:rPr lang="fr-FR" dirty="0"/>
                    <a:t> Ils sont plus âgés, mais appartiennent à un groupe à faibles revenus.</a:t>
                  </a:r>
                </a:p>
              </p:txBody>
            </p:sp>
          </p:grpSp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60EEB751-9C76-D7AB-3F07-7E678049EAE8}"/>
                  </a:ext>
                </a:extLst>
              </p:cNvPr>
              <p:cNvSpPr txBox="1"/>
              <p:nvPr/>
            </p:nvSpPr>
            <p:spPr>
              <a:xfrm>
                <a:off x="2278895" y="1588979"/>
                <a:ext cx="55123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fr-FR" dirty="0"/>
                  <a:t>🧑‍🤝‍🧑</a:t>
                </a:r>
                <a:endParaRPr lang="fr-FR" dirty="0"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51" name="Google Shape;181;p20">
            <a:extLst>
              <a:ext uri="{FF2B5EF4-FFF2-40B4-BE49-F238E27FC236}">
                <a16:creationId xmlns:a16="http://schemas.microsoft.com/office/drawing/2014/main" id="{36D5E8D7-A56D-4B42-2642-D00B6880318F}"/>
              </a:ext>
            </a:extLst>
          </p:cNvPr>
          <p:cNvSpPr txBox="1">
            <a:spLocks/>
          </p:cNvSpPr>
          <p:nvPr/>
        </p:nvSpPr>
        <p:spPr>
          <a:xfrm>
            <a:off x="941111" y="33568"/>
            <a:ext cx="695562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dirty="0"/>
              <a:t>Cluster 2 :Jeunes familles avec enfants uniques</a:t>
            </a:r>
          </a:p>
        </p:txBody>
      </p:sp>
      <p:pic>
        <p:nvPicPr>
          <p:cNvPr id="9" name="Graphique 8" descr="Famille avec un garçon avec un remplissage uni">
            <a:extLst>
              <a:ext uri="{FF2B5EF4-FFF2-40B4-BE49-F238E27FC236}">
                <a16:creationId xmlns:a16="http://schemas.microsoft.com/office/drawing/2014/main" id="{656E718D-F56F-228C-34C3-564A54D71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175" y="598658"/>
            <a:ext cx="1637752" cy="1637752"/>
          </a:xfrm>
          <a:prstGeom prst="rect">
            <a:avLst/>
          </a:prstGeom>
        </p:spPr>
      </p:pic>
      <p:pic>
        <p:nvPicPr>
          <p:cNvPr id="5" name="Graphique 4" descr="Famille avec deux enfants avec un remplissage uni">
            <a:extLst>
              <a:ext uri="{FF2B5EF4-FFF2-40B4-BE49-F238E27FC236}">
                <a16:creationId xmlns:a16="http://schemas.microsoft.com/office/drawing/2014/main" id="{6938AA2E-9777-7626-9498-C776123812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6707" y="3006245"/>
            <a:ext cx="1749371" cy="174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65786"/>
      </p:ext>
    </p:extLst>
  </p:cSld>
  <p:clrMapOvr>
    <a:masterClrMapping/>
  </p:clrMapOvr>
</p:sld>
</file>

<file path=ppt/theme/theme1.xml><?xml version="1.0" encoding="utf-8"?>
<a:theme xmlns:a="http://schemas.openxmlformats.org/drawingml/2006/main" name="Ideal Customer Profile (ICP) Infographics Infographics">
  <a:themeElements>
    <a:clrScheme name="Simple Light">
      <a:dk1>
        <a:srgbClr val="000000"/>
      </a:dk1>
      <a:lt1>
        <a:srgbClr val="FFFFFF"/>
      </a:lt1>
      <a:dk2>
        <a:srgbClr val="2F8CA6"/>
      </a:dk2>
      <a:lt2>
        <a:srgbClr val="009688"/>
      </a:lt2>
      <a:accent1>
        <a:srgbClr val="FFD234"/>
      </a:accent1>
      <a:accent2>
        <a:srgbClr val="FFBA55"/>
      </a:accent2>
      <a:accent3>
        <a:srgbClr val="F36A5D"/>
      </a:accent3>
      <a:accent4>
        <a:srgbClr val="FF99B1"/>
      </a:accent4>
      <a:accent5>
        <a:srgbClr val="E7F4F8"/>
      </a:accent5>
      <a:accent6>
        <a:srgbClr val="EEF8F7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247</Words>
  <Application>Microsoft Office PowerPoint</Application>
  <PresentationFormat>Affichage à l'écran (16:9)</PresentationFormat>
  <Paragraphs>46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Fira Sans Extra Condensed</vt:lpstr>
      <vt:lpstr>Roboto</vt:lpstr>
      <vt:lpstr>Ideal Customer Profile (ICP) Infographics Infographics</vt:lpstr>
      <vt:lpstr>PROJET DATA MINING Profiling cluster</vt:lpstr>
      <vt:lpstr>Cluster 1 : Couples jeunes, indépendants, à hauts revenus</vt:lpstr>
      <vt:lpstr>Cluster 3 :Grandes familles traditionnelles à faibles revenus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Abdoulaye KONE</cp:lastModifiedBy>
  <cp:revision>6</cp:revision>
  <dcterms:modified xsi:type="dcterms:W3CDTF">2025-07-27T23:29:07Z</dcterms:modified>
</cp:coreProperties>
</file>